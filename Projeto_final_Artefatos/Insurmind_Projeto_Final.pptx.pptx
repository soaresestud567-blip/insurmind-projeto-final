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2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92024" cy="10287000"/>
            <a:chOff x="0" y="0"/>
            <a:chExt cx="25603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03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0140" y="1548765"/>
            <a:ext cx="146304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9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INSURMINDS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Comparador Inteligente de Apólices D&amp;O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1288" y="4181475"/>
            <a:ext cx="1421892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de IA Generativa para extração, estruturação e comparação de apólices de seguro D&amp;O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5086" y="7058978"/>
            <a:ext cx="6181725" cy="969645"/>
            <a:chOff x="0" y="0"/>
            <a:chExt cx="8242300" cy="1292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42300" cy="1292860"/>
            </a:xfrm>
            <a:custGeom>
              <a:avLst/>
              <a:gdLst/>
              <a:ahLst/>
              <a:cxnLst/>
              <a:rect r="r" b="b" t="t" l="l"/>
              <a:pathLst>
                <a:path h="1292860" w="8242300">
                  <a:moveTo>
                    <a:pt x="0" y="215519"/>
                  </a:moveTo>
                  <a:cubicBezTo>
                    <a:pt x="0" y="96520"/>
                    <a:pt x="96520" y="0"/>
                    <a:pt x="215519" y="0"/>
                  </a:cubicBezTo>
                  <a:lnTo>
                    <a:pt x="8026781" y="0"/>
                  </a:lnTo>
                  <a:cubicBezTo>
                    <a:pt x="8145780" y="0"/>
                    <a:pt x="8242300" y="96520"/>
                    <a:pt x="8242300" y="215519"/>
                  </a:cubicBezTo>
                  <a:lnTo>
                    <a:pt x="8242300" y="1077341"/>
                  </a:lnTo>
                  <a:cubicBezTo>
                    <a:pt x="8242300" y="1196340"/>
                    <a:pt x="8145780" y="1292860"/>
                    <a:pt x="8026781" y="1292860"/>
                  </a:cubicBezTo>
                  <a:lnTo>
                    <a:pt x="215519" y="1292860"/>
                  </a:lnTo>
                  <a:cubicBezTo>
                    <a:pt x="96520" y="1292860"/>
                    <a:pt x="0" y="1196340"/>
                    <a:pt x="0" y="10773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242300" cy="134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Marcely Soares  •  Camille Soares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CONTEXTO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Problema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5357" y="3012758"/>
            <a:ext cx="5015865" cy="4947285"/>
            <a:chOff x="0" y="0"/>
            <a:chExt cx="6687820" cy="6596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87820" cy="6596380"/>
            </a:xfrm>
            <a:custGeom>
              <a:avLst/>
              <a:gdLst/>
              <a:ahLst/>
              <a:cxnLst/>
              <a:rect r="r" b="b" t="t" l="l"/>
              <a:pathLst>
                <a:path h="6596380" w="6687820">
                  <a:moveTo>
                    <a:pt x="0" y="1099439"/>
                  </a:moveTo>
                  <a:cubicBezTo>
                    <a:pt x="0" y="492252"/>
                    <a:pt x="492252" y="0"/>
                    <a:pt x="1099439" y="0"/>
                  </a:cubicBezTo>
                  <a:lnTo>
                    <a:pt x="5588381" y="0"/>
                  </a:lnTo>
                  <a:cubicBezTo>
                    <a:pt x="6195568" y="0"/>
                    <a:pt x="6687820" y="492252"/>
                    <a:pt x="6687820" y="1099439"/>
                  </a:cubicBezTo>
                  <a:lnTo>
                    <a:pt x="6687820" y="5496941"/>
                  </a:lnTo>
                  <a:cubicBezTo>
                    <a:pt x="6687820" y="6104128"/>
                    <a:pt x="6195568" y="6596380"/>
                    <a:pt x="5588381" y="6596380"/>
                  </a:cubicBezTo>
                  <a:lnTo>
                    <a:pt x="1099439" y="6596380"/>
                  </a:lnTo>
                  <a:cubicBezTo>
                    <a:pt x="492252" y="6596380"/>
                    <a:pt x="0" y="6104128"/>
                    <a:pt x="0" y="54969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3017520"/>
            <a:ext cx="82296" cy="4937760"/>
            <a:chOff x="0" y="0"/>
            <a:chExt cx="109728" cy="6583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3312" y="326250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3312" y="3885057"/>
            <a:ext cx="4274820" cy="380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Apólices D&amp;O são documentos longos e redigidos em linguagem jurídica densa.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0338" y="3012758"/>
            <a:ext cx="5015865" cy="4947285"/>
            <a:chOff x="0" y="0"/>
            <a:chExt cx="6687820" cy="65963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87820" cy="6596380"/>
            </a:xfrm>
            <a:custGeom>
              <a:avLst/>
              <a:gdLst/>
              <a:ahLst/>
              <a:cxnLst/>
              <a:rect r="r" b="b" t="t" l="l"/>
              <a:pathLst>
                <a:path h="6596380" w="6687820">
                  <a:moveTo>
                    <a:pt x="0" y="1099439"/>
                  </a:moveTo>
                  <a:cubicBezTo>
                    <a:pt x="0" y="492252"/>
                    <a:pt x="492252" y="0"/>
                    <a:pt x="1099439" y="0"/>
                  </a:cubicBezTo>
                  <a:lnTo>
                    <a:pt x="5588381" y="0"/>
                  </a:lnTo>
                  <a:cubicBezTo>
                    <a:pt x="6195568" y="0"/>
                    <a:pt x="6687820" y="492252"/>
                    <a:pt x="6687820" y="1099439"/>
                  </a:cubicBezTo>
                  <a:lnTo>
                    <a:pt x="6687820" y="5496941"/>
                  </a:lnTo>
                  <a:cubicBezTo>
                    <a:pt x="6687820" y="6104128"/>
                    <a:pt x="6195568" y="6596380"/>
                    <a:pt x="5588381" y="6596380"/>
                  </a:cubicBezTo>
                  <a:lnTo>
                    <a:pt x="1099439" y="6596380"/>
                  </a:lnTo>
                  <a:cubicBezTo>
                    <a:pt x="492252" y="6596380"/>
                    <a:pt x="0" y="6104128"/>
                    <a:pt x="0" y="54969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15100" y="3017520"/>
            <a:ext cx="82296" cy="4937760"/>
            <a:chOff x="0" y="0"/>
            <a:chExt cx="109728" cy="6583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08292" y="326250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8292" y="3885057"/>
            <a:ext cx="4274820" cy="380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Comparar coberturas, exclusões, franquias e limites exige horas de trabalho especializado.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65318" y="3012758"/>
            <a:ext cx="5015865" cy="4947285"/>
            <a:chOff x="0" y="0"/>
            <a:chExt cx="6687820" cy="65963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87820" cy="6596380"/>
            </a:xfrm>
            <a:custGeom>
              <a:avLst/>
              <a:gdLst/>
              <a:ahLst/>
              <a:cxnLst/>
              <a:rect r="r" b="b" t="t" l="l"/>
              <a:pathLst>
                <a:path h="6596380" w="6687820">
                  <a:moveTo>
                    <a:pt x="0" y="1099439"/>
                  </a:moveTo>
                  <a:cubicBezTo>
                    <a:pt x="0" y="492252"/>
                    <a:pt x="492252" y="0"/>
                    <a:pt x="1099439" y="0"/>
                  </a:cubicBezTo>
                  <a:lnTo>
                    <a:pt x="5588381" y="0"/>
                  </a:lnTo>
                  <a:cubicBezTo>
                    <a:pt x="6195568" y="0"/>
                    <a:pt x="6687820" y="492252"/>
                    <a:pt x="6687820" y="1099439"/>
                  </a:cubicBezTo>
                  <a:lnTo>
                    <a:pt x="6687820" y="5496941"/>
                  </a:lnTo>
                  <a:cubicBezTo>
                    <a:pt x="6687820" y="6104128"/>
                    <a:pt x="6195568" y="6596380"/>
                    <a:pt x="5588381" y="6596380"/>
                  </a:cubicBezTo>
                  <a:lnTo>
                    <a:pt x="1099439" y="6596380"/>
                  </a:lnTo>
                  <a:cubicBezTo>
                    <a:pt x="492252" y="6596380"/>
                    <a:pt x="0" y="6104128"/>
                    <a:pt x="0" y="54969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0080" y="3017520"/>
            <a:ext cx="82296" cy="4937760"/>
            <a:chOff x="0" y="0"/>
            <a:chExt cx="109728" cy="6583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63272" y="326250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63272" y="3885057"/>
            <a:ext cx="4274820" cy="380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 análise ainda é majoritariamente manual, lenta e sujeita a erro humano.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PROPOSTA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" y="2947035"/>
            <a:ext cx="15453360" cy="612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Automatizar a leitura de apólices D&amp;O (PDF ou imagem).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Estruturar as informações em um formato padronizado e consultável.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Comparar duas ou mais apólices e destacar as diferenças automaticamente.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Integrar OCR, IA Generativa, agentes especializados e banco de dados em um único fluxo.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VISÃO GERAL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Arquitetura da Solução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412" y="1890903"/>
            <a:ext cx="155905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de agentes especializados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6777" y="3218498"/>
            <a:ext cx="1628013" cy="1449705"/>
            <a:chOff x="0" y="0"/>
            <a:chExt cx="2170684" cy="19329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01468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724722" y="3218498"/>
            <a:ext cx="1628013" cy="1449705"/>
            <a:chOff x="0" y="0"/>
            <a:chExt cx="2170684" cy="19329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Recepção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439412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62666" y="3218498"/>
            <a:ext cx="1628013" cy="1449705"/>
            <a:chOff x="0" y="0"/>
            <a:chExt cx="2170684" cy="193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/ Texto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77356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00610" y="3218498"/>
            <a:ext cx="1628013" cy="1449705"/>
            <a:chOff x="0" y="0"/>
            <a:chExt cx="2170684" cy="193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Extração (IA)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115300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38554" y="3218498"/>
            <a:ext cx="1628013" cy="1449705"/>
            <a:chOff x="0" y="0"/>
            <a:chExt cx="2170684" cy="193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Estrutura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953244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76498" y="3218498"/>
            <a:ext cx="1628013" cy="1449705"/>
            <a:chOff x="0" y="0"/>
            <a:chExt cx="2170684" cy="193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Banco de Dados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791188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914442" y="3218498"/>
            <a:ext cx="1628013" cy="1449705"/>
            <a:chOff x="0" y="0"/>
            <a:chExt cx="2170684" cy="19329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Comparação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629132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752386" y="3218498"/>
            <a:ext cx="1628013" cy="1449705"/>
            <a:chOff x="0" y="0"/>
            <a:chExt cx="2170684" cy="19329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Relatório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5467076" y="3614928"/>
            <a:ext cx="365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EA5E9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590330" y="3218498"/>
            <a:ext cx="1628013" cy="1449705"/>
            <a:chOff x="0" y="0"/>
            <a:chExt cx="2170684" cy="19329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0684" cy="1932940"/>
            </a:xfrm>
            <a:custGeom>
              <a:avLst/>
              <a:gdLst/>
              <a:ahLst/>
              <a:cxnLst/>
              <a:rect r="r" b="b" t="t" l="l"/>
              <a:pathLst>
                <a:path h="1932940" w="2170684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848485" y="0"/>
                  </a:lnTo>
                  <a:cubicBezTo>
                    <a:pt x="2026412" y="0"/>
                    <a:pt x="2170684" y="144272"/>
                    <a:pt x="2170684" y="322199"/>
                  </a:cubicBezTo>
                  <a:lnTo>
                    <a:pt x="2170684" y="1610741"/>
                  </a:lnTo>
                  <a:cubicBezTo>
                    <a:pt x="2170684" y="1788668"/>
                    <a:pt x="2026412" y="1932940"/>
                    <a:pt x="1848485" y="1932940"/>
                  </a:cubicBezTo>
                  <a:lnTo>
                    <a:pt x="322199" y="1932940"/>
                  </a:lnTo>
                  <a:cubicBezTo>
                    <a:pt x="144272" y="1932940"/>
                    <a:pt x="0" y="1788668"/>
                    <a:pt x="0" y="1610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170684" cy="1971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9677" y="5687378"/>
            <a:ext cx="14959965" cy="1861185"/>
            <a:chOff x="0" y="0"/>
            <a:chExt cx="19946620" cy="24815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946620" cy="2481580"/>
            </a:xfrm>
            <a:custGeom>
              <a:avLst/>
              <a:gdLst/>
              <a:ahLst/>
              <a:cxnLst/>
              <a:rect r="r" b="b" t="t" l="l"/>
              <a:pathLst>
                <a:path h="2481580" w="19946620">
                  <a:moveTo>
                    <a:pt x="0" y="413639"/>
                  </a:moveTo>
                  <a:cubicBezTo>
                    <a:pt x="0" y="185166"/>
                    <a:pt x="185166" y="0"/>
                    <a:pt x="413639" y="0"/>
                  </a:cubicBezTo>
                  <a:lnTo>
                    <a:pt x="19532981" y="0"/>
                  </a:lnTo>
                  <a:cubicBezTo>
                    <a:pt x="19761454" y="0"/>
                    <a:pt x="19946620" y="185166"/>
                    <a:pt x="19946620" y="413639"/>
                  </a:cubicBezTo>
                  <a:lnTo>
                    <a:pt x="19946620" y="2067941"/>
                  </a:lnTo>
                  <a:cubicBezTo>
                    <a:pt x="19946620" y="2296414"/>
                    <a:pt x="19761454" y="2481580"/>
                    <a:pt x="19532981" y="2481580"/>
                  </a:cubicBezTo>
                  <a:lnTo>
                    <a:pt x="413639" y="2481580"/>
                  </a:lnTo>
                  <a:cubicBezTo>
                    <a:pt x="185166" y="2481580"/>
                    <a:pt x="0" y="2296414"/>
                    <a:pt x="0" y="20679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440" y="5692140"/>
            <a:ext cx="82296" cy="1851660"/>
            <a:chOff x="0" y="0"/>
            <a:chExt cx="109728" cy="2468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627632" y="5937123"/>
            <a:ext cx="142189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Fluxo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27632" y="6559677"/>
            <a:ext cx="14218920" cy="71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Cache em disco evita reprocessamento e reduz chamadas de API.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RESPONSABILIDADES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 Agentes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412" y="1890903"/>
            <a:ext cx="155905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Cada etapa possui uma responsabilidade específica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5357" y="2738438"/>
            <a:ext cx="5015865" cy="2135505"/>
            <a:chOff x="0" y="0"/>
            <a:chExt cx="6687820" cy="28473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87820" cy="2847340"/>
            </a:xfrm>
            <a:custGeom>
              <a:avLst/>
              <a:gdLst/>
              <a:ahLst/>
              <a:cxnLst/>
              <a:rect r="r" b="b" t="t" l="l"/>
              <a:pathLst>
                <a:path h="2847340" w="6687820">
                  <a:moveTo>
                    <a:pt x="0" y="474599"/>
                  </a:moveTo>
                  <a:cubicBezTo>
                    <a:pt x="0" y="212471"/>
                    <a:pt x="212471" y="0"/>
                    <a:pt x="474599" y="0"/>
                  </a:cubicBezTo>
                  <a:lnTo>
                    <a:pt x="6213221" y="0"/>
                  </a:lnTo>
                  <a:cubicBezTo>
                    <a:pt x="6475349" y="0"/>
                    <a:pt x="6687820" y="212471"/>
                    <a:pt x="6687820" y="474599"/>
                  </a:cubicBezTo>
                  <a:lnTo>
                    <a:pt x="6687820" y="2372741"/>
                  </a:lnTo>
                  <a:cubicBezTo>
                    <a:pt x="6687820" y="2634869"/>
                    <a:pt x="6475349" y="2847340"/>
                    <a:pt x="6213221" y="2847340"/>
                  </a:cubicBezTo>
                  <a:lnTo>
                    <a:pt x="474599" y="2847340"/>
                  </a:lnTo>
                  <a:cubicBezTo>
                    <a:pt x="212471" y="2847340"/>
                    <a:pt x="0" y="2634869"/>
                    <a:pt x="0" y="2372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2743200"/>
            <a:ext cx="82296" cy="2125980"/>
            <a:chOff x="0" y="0"/>
            <a:chExt cx="109728" cy="2834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3312" y="298818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ReceptionAgent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3312" y="3610737"/>
            <a:ext cx="4274820" cy="9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Valida o formato e salva o arquivo com nome único.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10338" y="2738438"/>
            <a:ext cx="5015865" cy="2135505"/>
            <a:chOff x="0" y="0"/>
            <a:chExt cx="6687820" cy="28473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7820" cy="2847340"/>
            </a:xfrm>
            <a:custGeom>
              <a:avLst/>
              <a:gdLst/>
              <a:ahLst/>
              <a:cxnLst/>
              <a:rect r="r" b="b" t="t" l="l"/>
              <a:pathLst>
                <a:path h="2847340" w="6687820">
                  <a:moveTo>
                    <a:pt x="0" y="474599"/>
                  </a:moveTo>
                  <a:cubicBezTo>
                    <a:pt x="0" y="212471"/>
                    <a:pt x="212471" y="0"/>
                    <a:pt x="474599" y="0"/>
                  </a:cubicBezTo>
                  <a:lnTo>
                    <a:pt x="6213221" y="0"/>
                  </a:lnTo>
                  <a:cubicBezTo>
                    <a:pt x="6475349" y="0"/>
                    <a:pt x="6687820" y="212471"/>
                    <a:pt x="6687820" y="474599"/>
                  </a:cubicBezTo>
                  <a:lnTo>
                    <a:pt x="6687820" y="2372741"/>
                  </a:lnTo>
                  <a:cubicBezTo>
                    <a:pt x="6687820" y="2634869"/>
                    <a:pt x="6475349" y="2847340"/>
                    <a:pt x="6213221" y="2847340"/>
                  </a:cubicBezTo>
                  <a:lnTo>
                    <a:pt x="474599" y="2847340"/>
                  </a:lnTo>
                  <a:cubicBezTo>
                    <a:pt x="212471" y="2847340"/>
                    <a:pt x="0" y="2634869"/>
                    <a:pt x="0" y="2372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15100" y="2743200"/>
            <a:ext cx="82296" cy="2125980"/>
            <a:chOff x="0" y="0"/>
            <a:chExt cx="109728" cy="2834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08292" y="298818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OCRAgent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8292" y="3610737"/>
            <a:ext cx="4274820" cy="9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Usa texto nativo do PDF; aciona OCR só quando necessário.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65318" y="2738438"/>
            <a:ext cx="5015865" cy="2135505"/>
            <a:chOff x="0" y="0"/>
            <a:chExt cx="6687820" cy="28473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87820" cy="2847340"/>
            </a:xfrm>
            <a:custGeom>
              <a:avLst/>
              <a:gdLst/>
              <a:ahLst/>
              <a:cxnLst/>
              <a:rect r="r" b="b" t="t" l="l"/>
              <a:pathLst>
                <a:path h="2847340" w="6687820">
                  <a:moveTo>
                    <a:pt x="0" y="474599"/>
                  </a:moveTo>
                  <a:cubicBezTo>
                    <a:pt x="0" y="212471"/>
                    <a:pt x="212471" y="0"/>
                    <a:pt x="474599" y="0"/>
                  </a:cubicBezTo>
                  <a:lnTo>
                    <a:pt x="6213221" y="0"/>
                  </a:lnTo>
                  <a:cubicBezTo>
                    <a:pt x="6475349" y="0"/>
                    <a:pt x="6687820" y="212471"/>
                    <a:pt x="6687820" y="474599"/>
                  </a:cubicBezTo>
                  <a:lnTo>
                    <a:pt x="6687820" y="2372741"/>
                  </a:lnTo>
                  <a:cubicBezTo>
                    <a:pt x="6687820" y="2634869"/>
                    <a:pt x="6475349" y="2847340"/>
                    <a:pt x="6213221" y="2847340"/>
                  </a:cubicBezTo>
                  <a:lnTo>
                    <a:pt x="474599" y="2847340"/>
                  </a:lnTo>
                  <a:cubicBezTo>
                    <a:pt x="212471" y="2847340"/>
                    <a:pt x="0" y="2634869"/>
                    <a:pt x="0" y="2372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0080" y="2743200"/>
            <a:ext cx="82296" cy="2125980"/>
            <a:chOff x="0" y="0"/>
            <a:chExt cx="109728" cy="2834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63272" y="298818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ExtractionAgent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63272" y="3610737"/>
            <a:ext cx="4274820" cy="9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Usa IA Generativa para extrair campos, com chunking e cache.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5357" y="5344478"/>
            <a:ext cx="5015865" cy="2135505"/>
            <a:chOff x="0" y="0"/>
            <a:chExt cx="6687820" cy="28473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87820" cy="2847340"/>
            </a:xfrm>
            <a:custGeom>
              <a:avLst/>
              <a:gdLst/>
              <a:ahLst/>
              <a:cxnLst/>
              <a:rect r="r" b="b" t="t" l="l"/>
              <a:pathLst>
                <a:path h="2847340" w="6687820">
                  <a:moveTo>
                    <a:pt x="0" y="474599"/>
                  </a:moveTo>
                  <a:cubicBezTo>
                    <a:pt x="0" y="212471"/>
                    <a:pt x="212471" y="0"/>
                    <a:pt x="474599" y="0"/>
                  </a:cubicBezTo>
                  <a:lnTo>
                    <a:pt x="6213221" y="0"/>
                  </a:lnTo>
                  <a:cubicBezTo>
                    <a:pt x="6475349" y="0"/>
                    <a:pt x="6687820" y="212471"/>
                    <a:pt x="6687820" y="474599"/>
                  </a:cubicBezTo>
                  <a:lnTo>
                    <a:pt x="6687820" y="2372741"/>
                  </a:lnTo>
                  <a:cubicBezTo>
                    <a:pt x="6687820" y="2634869"/>
                    <a:pt x="6475349" y="2847340"/>
                    <a:pt x="6213221" y="2847340"/>
                  </a:cubicBezTo>
                  <a:lnTo>
                    <a:pt x="474599" y="2847340"/>
                  </a:lnTo>
                  <a:cubicBezTo>
                    <a:pt x="212471" y="2847340"/>
                    <a:pt x="0" y="2634869"/>
                    <a:pt x="0" y="2372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5349240"/>
            <a:ext cx="82296" cy="2125980"/>
            <a:chOff x="0" y="0"/>
            <a:chExt cx="109728" cy="2834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53312" y="559422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StructureAgent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3312" y="6216777"/>
            <a:ext cx="4274820" cy="9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Normaliza o JSON, garantindo todos os campos esperados.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510338" y="5344478"/>
            <a:ext cx="5015865" cy="2135505"/>
            <a:chOff x="0" y="0"/>
            <a:chExt cx="6687820" cy="2847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87820" cy="2847340"/>
            </a:xfrm>
            <a:custGeom>
              <a:avLst/>
              <a:gdLst/>
              <a:ahLst/>
              <a:cxnLst/>
              <a:rect r="r" b="b" t="t" l="l"/>
              <a:pathLst>
                <a:path h="2847340" w="6687820">
                  <a:moveTo>
                    <a:pt x="0" y="474599"/>
                  </a:moveTo>
                  <a:cubicBezTo>
                    <a:pt x="0" y="212471"/>
                    <a:pt x="212471" y="0"/>
                    <a:pt x="474599" y="0"/>
                  </a:cubicBezTo>
                  <a:lnTo>
                    <a:pt x="6213221" y="0"/>
                  </a:lnTo>
                  <a:cubicBezTo>
                    <a:pt x="6475349" y="0"/>
                    <a:pt x="6687820" y="212471"/>
                    <a:pt x="6687820" y="474599"/>
                  </a:cubicBezTo>
                  <a:lnTo>
                    <a:pt x="6687820" y="2372741"/>
                  </a:lnTo>
                  <a:cubicBezTo>
                    <a:pt x="6687820" y="2634869"/>
                    <a:pt x="6475349" y="2847340"/>
                    <a:pt x="6213221" y="2847340"/>
                  </a:cubicBezTo>
                  <a:lnTo>
                    <a:pt x="474599" y="2847340"/>
                  </a:lnTo>
                  <a:cubicBezTo>
                    <a:pt x="212471" y="2847340"/>
                    <a:pt x="0" y="2634869"/>
                    <a:pt x="0" y="2372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515100" y="5349240"/>
            <a:ext cx="82296" cy="2125980"/>
            <a:chOff x="0" y="0"/>
            <a:chExt cx="109728" cy="2834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908292" y="559422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ComparisonAgent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08292" y="6216777"/>
            <a:ext cx="4274820" cy="9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 campos objetivos e semânticos entre apólices.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065318" y="5344478"/>
            <a:ext cx="5015865" cy="2135505"/>
            <a:chOff x="0" y="0"/>
            <a:chExt cx="6687820" cy="2847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87820" cy="2847340"/>
            </a:xfrm>
            <a:custGeom>
              <a:avLst/>
              <a:gdLst/>
              <a:ahLst/>
              <a:cxnLst/>
              <a:rect r="r" b="b" t="t" l="l"/>
              <a:pathLst>
                <a:path h="2847340" w="6687820">
                  <a:moveTo>
                    <a:pt x="0" y="474599"/>
                  </a:moveTo>
                  <a:cubicBezTo>
                    <a:pt x="0" y="212471"/>
                    <a:pt x="212471" y="0"/>
                    <a:pt x="474599" y="0"/>
                  </a:cubicBezTo>
                  <a:lnTo>
                    <a:pt x="6213221" y="0"/>
                  </a:lnTo>
                  <a:cubicBezTo>
                    <a:pt x="6475349" y="0"/>
                    <a:pt x="6687820" y="212471"/>
                    <a:pt x="6687820" y="474599"/>
                  </a:cubicBezTo>
                  <a:lnTo>
                    <a:pt x="6687820" y="2372741"/>
                  </a:lnTo>
                  <a:cubicBezTo>
                    <a:pt x="6687820" y="2634869"/>
                    <a:pt x="6475349" y="2847340"/>
                    <a:pt x="6213221" y="2847340"/>
                  </a:cubicBezTo>
                  <a:lnTo>
                    <a:pt x="474599" y="2847340"/>
                  </a:lnTo>
                  <a:cubicBezTo>
                    <a:pt x="212471" y="2847340"/>
                    <a:pt x="0" y="2634869"/>
                    <a:pt x="0" y="2372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070080" y="5349240"/>
            <a:ext cx="82296" cy="2125980"/>
            <a:chOff x="0" y="0"/>
            <a:chExt cx="109728" cy="2834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463272" y="5594223"/>
            <a:ext cx="427482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ReportAgent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63272" y="6216777"/>
            <a:ext cx="4274820" cy="9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Gera o relatório comparativo final.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Tecnologias Utilizadas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3938" y="2738438"/>
            <a:ext cx="7553325" cy="1724025"/>
            <a:chOff x="0" y="0"/>
            <a:chExt cx="10071100" cy="2298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71100" cy="2298700"/>
            </a:xfrm>
            <a:custGeom>
              <a:avLst/>
              <a:gdLst/>
              <a:ahLst/>
              <a:cxnLst/>
              <a:rect r="r" b="b" t="t" l="l"/>
              <a:pathLst>
                <a:path h="2298700" w="10071100">
                  <a:moveTo>
                    <a:pt x="0" y="383159"/>
                  </a:moveTo>
                  <a:cubicBezTo>
                    <a:pt x="0" y="171577"/>
                    <a:pt x="171577" y="0"/>
                    <a:pt x="383159" y="0"/>
                  </a:cubicBezTo>
                  <a:lnTo>
                    <a:pt x="9687941" y="0"/>
                  </a:lnTo>
                  <a:cubicBezTo>
                    <a:pt x="9899523" y="0"/>
                    <a:pt x="10071100" y="171577"/>
                    <a:pt x="10071100" y="383159"/>
                  </a:cubicBezTo>
                  <a:lnTo>
                    <a:pt x="10071100" y="1915541"/>
                  </a:lnTo>
                  <a:cubicBezTo>
                    <a:pt x="10071100" y="2127123"/>
                    <a:pt x="9899523" y="2298700"/>
                    <a:pt x="9687941" y="2298700"/>
                  </a:cubicBezTo>
                  <a:lnTo>
                    <a:pt x="383159" y="2298700"/>
                  </a:lnTo>
                  <a:cubicBezTo>
                    <a:pt x="171577" y="2298700"/>
                    <a:pt x="0" y="2127123"/>
                    <a:pt x="0" y="19155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743200"/>
            <a:ext cx="82296" cy="1714500"/>
            <a:chOff x="0" y="0"/>
            <a:chExt cx="109728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1892" y="298818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+ Streamlit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892" y="3610737"/>
            <a:ext cx="6812280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 da aplicação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84957" y="2738438"/>
            <a:ext cx="7553325" cy="1724025"/>
            <a:chOff x="0" y="0"/>
            <a:chExt cx="10071100" cy="2298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71100" cy="2298700"/>
            </a:xfrm>
            <a:custGeom>
              <a:avLst/>
              <a:gdLst/>
              <a:ahLst/>
              <a:cxnLst/>
              <a:rect r="r" b="b" t="t" l="l"/>
              <a:pathLst>
                <a:path h="2298700" w="10071100">
                  <a:moveTo>
                    <a:pt x="0" y="383159"/>
                  </a:moveTo>
                  <a:cubicBezTo>
                    <a:pt x="0" y="171577"/>
                    <a:pt x="171577" y="0"/>
                    <a:pt x="383159" y="0"/>
                  </a:cubicBezTo>
                  <a:lnTo>
                    <a:pt x="9687941" y="0"/>
                  </a:lnTo>
                  <a:cubicBezTo>
                    <a:pt x="9899523" y="0"/>
                    <a:pt x="10071100" y="171577"/>
                    <a:pt x="10071100" y="383159"/>
                  </a:cubicBezTo>
                  <a:lnTo>
                    <a:pt x="10071100" y="1915541"/>
                  </a:lnTo>
                  <a:cubicBezTo>
                    <a:pt x="10071100" y="2127123"/>
                    <a:pt x="9899523" y="2298700"/>
                    <a:pt x="9687941" y="2298700"/>
                  </a:cubicBezTo>
                  <a:lnTo>
                    <a:pt x="383159" y="2298700"/>
                  </a:lnTo>
                  <a:cubicBezTo>
                    <a:pt x="171577" y="2298700"/>
                    <a:pt x="0" y="2127123"/>
                    <a:pt x="0" y="19155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89720" y="2743200"/>
            <a:ext cx="82296" cy="1714500"/>
            <a:chOff x="0" y="0"/>
            <a:chExt cx="109728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82912" y="298818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PyMuPDF (fitz)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2912" y="3610737"/>
            <a:ext cx="6812280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leitura nativa de texto em PDF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3938" y="4864418"/>
            <a:ext cx="7553325" cy="1724025"/>
            <a:chOff x="0" y="0"/>
            <a:chExt cx="10071100" cy="2298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71100" cy="2298700"/>
            </a:xfrm>
            <a:custGeom>
              <a:avLst/>
              <a:gdLst/>
              <a:ahLst/>
              <a:cxnLst/>
              <a:rect r="r" b="b" t="t" l="l"/>
              <a:pathLst>
                <a:path h="2298700" w="10071100">
                  <a:moveTo>
                    <a:pt x="0" y="383159"/>
                  </a:moveTo>
                  <a:cubicBezTo>
                    <a:pt x="0" y="171577"/>
                    <a:pt x="171577" y="0"/>
                    <a:pt x="383159" y="0"/>
                  </a:cubicBezTo>
                  <a:lnTo>
                    <a:pt x="9687941" y="0"/>
                  </a:lnTo>
                  <a:cubicBezTo>
                    <a:pt x="9899523" y="0"/>
                    <a:pt x="10071100" y="171577"/>
                    <a:pt x="10071100" y="383159"/>
                  </a:cubicBezTo>
                  <a:lnTo>
                    <a:pt x="10071100" y="1915541"/>
                  </a:lnTo>
                  <a:cubicBezTo>
                    <a:pt x="10071100" y="2127123"/>
                    <a:pt x="9899523" y="2298700"/>
                    <a:pt x="9687941" y="2298700"/>
                  </a:cubicBezTo>
                  <a:lnTo>
                    <a:pt x="383159" y="2298700"/>
                  </a:lnTo>
                  <a:cubicBezTo>
                    <a:pt x="171577" y="2298700"/>
                    <a:pt x="0" y="2127123"/>
                    <a:pt x="0" y="19155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4869180"/>
            <a:ext cx="82296" cy="1714500"/>
            <a:chOff x="0" y="0"/>
            <a:chExt cx="109728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21892" y="511416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Tesseract OCR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1892" y="5736717"/>
            <a:ext cx="6812280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documentos escaneados (imagem)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84957" y="4864418"/>
            <a:ext cx="7553325" cy="1724025"/>
            <a:chOff x="0" y="0"/>
            <a:chExt cx="10071100" cy="2298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71100" cy="2298700"/>
            </a:xfrm>
            <a:custGeom>
              <a:avLst/>
              <a:gdLst/>
              <a:ahLst/>
              <a:cxnLst/>
              <a:rect r="r" b="b" t="t" l="l"/>
              <a:pathLst>
                <a:path h="2298700" w="10071100">
                  <a:moveTo>
                    <a:pt x="0" y="383159"/>
                  </a:moveTo>
                  <a:cubicBezTo>
                    <a:pt x="0" y="171577"/>
                    <a:pt x="171577" y="0"/>
                    <a:pt x="383159" y="0"/>
                  </a:cubicBezTo>
                  <a:lnTo>
                    <a:pt x="9687941" y="0"/>
                  </a:lnTo>
                  <a:cubicBezTo>
                    <a:pt x="9899523" y="0"/>
                    <a:pt x="10071100" y="171577"/>
                    <a:pt x="10071100" y="383159"/>
                  </a:cubicBezTo>
                  <a:lnTo>
                    <a:pt x="10071100" y="1915541"/>
                  </a:lnTo>
                  <a:cubicBezTo>
                    <a:pt x="10071100" y="2127123"/>
                    <a:pt x="9899523" y="2298700"/>
                    <a:pt x="9687941" y="2298700"/>
                  </a:cubicBezTo>
                  <a:lnTo>
                    <a:pt x="383159" y="2298700"/>
                  </a:lnTo>
                  <a:cubicBezTo>
                    <a:pt x="171577" y="2298700"/>
                    <a:pt x="0" y="2127123"/>
                    <a:pt x="0" y="19155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189720" y="4869180"/>
            <a:ext cx="82296" cy="1714500"/>
            <a:chOff x="0" y="0"/>
            <a:chExt cx="109728" cy="228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82912" y="511416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OpenRouter (LLM)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82912" y="5736717"/>
            <a:ext cx="6812280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extração via IA Generativa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3938" y="6990397"/>
            <a:ext cx="7553325" cy="1724025"/>
            <a:chOff x="0" y="0"/>
            <a:chExt cx="10071100" cy="2298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71100" cy="2298700"/>
            </a:xfrm>
            <a:custGeom>
              <a:avLst/>
              <a:gdLst/>
              <a:ahLst/>
              <a:cxnLst/>
              <a:rect r="r" b="b" t="t" l="l"/>
              <a:pathLst>
                <a:path h="2298700" w="10071100">
                  <a:moveTo>
                    <a:pt x="0" y="383159"/>
                  </a:moveTo>
                  <a:cubicBezTo>
                    <a:pt x="0" y="171577"/>
                    <a:pt x="171577" y="0"/>
                    <a:pt x="383159" y="0"/>
                  </a:cubicBezTo>
                  <a:lnTo>
                    <a:pt x="9687941" y="0"/>
                  </a:lnTo>
                  <a:cubicBezTo>
                    <a:pt x="9899523" y="0"/>
                    <a:pt x="10071100" y="171577"/>
                    <a:pt x="10071100" y="383159"/>
                  </a:cubicBezTo>
                  <a:lnTo>
                    <a:pt x="10071100" y="1915541"/>
                  </a:lnTo>
                  <a:cubicBezTo>
                    <a:pt x="10071100" y="2127123"/>
                    <a:pt x="9899523" y="2298700"/>
                    <a:pt x="9687941" y="2298700"/>
                  </a:cubicBezTo>
                  <a:lnTo>
                    <a:pt x="383159" y="2298700"/>
                  </a:lnTo>
                  <a:cubicBezTo>
                    <a:pt x="171577" y="2298700"/>
                    <a:pt x="0" y="2127123"/>
                    <a:pt x="0" y="19155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6995160"/>
            <a:ext cx="82296" cy="1714500"/>
            <a:chOff x="0" y="0"/>
            <a:chExt cx="109728" cy="228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21892" y="724014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SQLite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1892" y="7862697"/>
            <a:ext cx="6812280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estruturado das apólices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EVIDÊNCIAS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Demonstração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412" y="1890903"/>
            <a:ext cx="155905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Evidências da aplicação em funcionamento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6777" y="2738438"/>
            <a:ext cx="8033385" cy="6250305"/>
            <a:chOff x="0" y="0"/>
            <a:chExt cx="10711180" cy="83337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11180" cy="8333740"/>
            </a:xfrm>
            <a:custGeom>
              <a:avLst/>
              <a:gdLst/>
              <a:ahLst/>
              <a:cxnLst/>
              <a:rect r="r" b="b" t="t" l="l"/>
              <a:pathLst>
                <a:path h="8333740" w="10711180">
                  <a:moveTo>
                    <a:pt x="0" y="1388999"/>
                  </a:moveTo>
                  <a:cubicBezTo>
                    <a:pt x="0" y="621919"/>
                    <a:pt x="621919" y="0"/>
                    <a:pt x="1388999" y="0"/>
                  </a:cubicBezTo>
                  <a:lnTo>
                    <a:pt x="9322181" y="0"/>
                  </a:lnTo>
                  <a:cubicBezTo>
                    <a:pt x="10089261" y="0"/>
                    <a:pt x="10711180" y="621919"/>
                    <a:pt x="10711180" y="1388999"/>
                  </a:cubicBezTo>
                  <a:lnTo>
                    <a:pt x="10711180" y="6944741"/>
                  </a:lnTo>
                  <a:cubicBezTo>
                    <a:pt x="10711180" y="7711822"/>
                    <a:pt x="10089262" y="8333740"/>
                    <a:pt x="9322181" y="8333740"/>
                  </a:cubicBezTo>
                  <a:lnTo>
                    <a:pt x="1388999" y="8333740"/>
                  </a:lnTo>
                  <a:cubicBezTo>
                    <a:pt x="621919" y="8333740"/>
                    <a:pt x="0" y="7711821"/>
                    <a:pt x="0" y="6944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14984" y="3967953"/>
            <a:ext cx="7776972" cy="3791274"/>
            <a:chOff x="0" y="0"/>
            <a:chExt cx="10369296" cy="5055032"/>
          </a:xfrm>
        </p:grpSpPr>
        <p:sp>
          <p:nvSpPr>
            <p:cNvPr name="Freeform 10" id="10" descr="WhatsApp Image 2026-10-06 at 12.23.19.jpeg"/>
            <p:cNvSpPr/>
            <p:nvPr/>
          </p:nvSpPr>
          <p:spPr>
            <a:xfrm flipH="false" flipV="false" rot="0">
              <a:off x="0" y="0"/>
              <a:ext cx="10369296" cy="5054981"/>
            </a:xfrm>
            <a:custGeom>
              <a:avLst/>
              <a:gdLst/>
              <a:ahLst/>
              <a:cxnLst/>
              <a:rect r="r" b="b" t="t" l="l"/>
              <a:pathLst>
                <a:path h="5054981" w="10369296">
                  <a:moveTo>
                    <a:pt x="0" y="0"/>
                  </a:moveTo>
                  <a:lnTo>
                    <a:pt x="10369296" y="0"/>
                  </a:lnTo>
                  <a:lnTo>
                    <a:pt x="10369296" y="5054981"/>
                  </a:lnTo>
                  <a:lnTo>
                    <a:pt x="0" y="5054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22118" y="2738438"/>
            <a:ext cx="8033385" cy="6250305"/>
            <a:chOff x="0" y="0"/>
            <a:chExt cx="10711180" cy="8333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1180" cy="8333740"/>
            </a:xfrm>
            <a:custGeom>
              <a:avLst/>
              <a:gdLst/>
              <a:ahLst/>
              <a:cxnLst/>
              <a:rect r="r" b="b" t="t" l="l"/>
              <a:pathLst>
                <a:path h="8333740" w="10711180">
                  <a:moveTo>
                    <a:pt x="0" y="1388999"/>
                  </a:moveTo>
                  <a:cubicBezTo>
                    <a:pt x="0" y="621919"/>
                    <a:pt x="621919" y="0"/>
                    <a:pt x="1388999" y="0"/>
                  </a:cubicBezTo>
                  <a:lnTo>
                    <a:pt x="9322181" y="0"/>
                  </a:lnTo>
                  <a:cubicBezTo>
                    <a:pt x="10089261" y="0"/>
                    <a:pt x="10711180" y="621919"/>
                    <a:pt x="10711180" y="1388999"/>
                  </a:cubicBezTo>
                  <a:lnTo>
                    <a:pt x="10711180" y="6944741"/>
                  </a:lnTo>
                  <a:cubicBezTo>
                    <a:pt x="10711180" y="7711822"/>
                    <a:pt x="10089262" y="8333740"/>
                    <a:pt x="9322181" y="8333740"/>
                  </a:cubicBezTo>
                  <a:lnTo>
                    <a:pt x="1388999" y="8333740"/>
                  </a:lnTo>
                  <a:cubicBezTo>
                    <a:pt x="621919" y="8333740"/>
                    <a:pt x="0" y="7711821"/>
                    <a:pt x="0" y="6944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450324" y="4281459"/>
            <a:ext cx="7776972" cy="3164253"/>
            <a:chOff x="0" y="0"/>
            <a:chExt cx="10369296" cy="4219004"/>
          </a:xfrm>
        </p:grpSpPr>
        <p:sp>
          <p:nvSpPr>
            <p:cNvPr name="Freeform 14" id="14" descr="WhatsApp Image2 2026-10-06 at 12.23.19.jpeg"/>
            <p:cNvSpPr/>
            <p:nvPr/>
          </p:nvSpPr>
          <p:spPr>
            <a:xfrm flipH="false" flipV="false" rot="0">
              <a:off x="0" y="0"/>
              <a:ext cx="10369296" cy="4219067"/>
            </a:xfrm>
            <a:custGeom>
              <a:avLst/>
              <a:gdLst/>
              <a:ahLst/>
              <a:cxnLst/>
              <a:rect r="r" b="b" t="t" l="l"/>
              <a:pathLst>
                <a:path h="4219067" w="10369296">
                  <a:moveTo>
                    <a:pt x="0" y="0"/>
                  </a:moveTo>
                  <a:lnTo>
                    <a:pt x="10369296" y="0"/>
                  </a:lnTo>
                  <a:lnTo>
                    <a:pt x="10369296" y="4219067"/>
                  </a:lnTo>
                  <a:lnTo>
                    <a:pt x="0" y="4219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350520"/>
            <a:ext cx="256032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94A3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  TRANSPARÊNCIA TÉCNICA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980" y="842010"/>
            <a:ext cx="16002000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Limitações e Evolução Futura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5357" y="2738438"/>
            <a:ext cx="7553325" cy="5221605"/>
            <a:chOff x="0" y="0"/>
            <a:chExt cx="10071100" cy="6962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71100" cy="6962140"/>
            </a:xfrm>
            <a:custGeom>
              <a:avLst/>
              <a:gdLst/>
              <a:ahLst/>
              <a:cxnLst/>
              <a:rect r="r" b="b" t="t" l="l"/>
              <a:pathLst>
                <a:path h="6962140" w="10071100">
                  <a:moveTo>
                    <a:pt x="0" y="1160399"/>
                  </a:moveTo>
                  <a:cubicBezTo>
                    <a:pt x="0" y="519557"/>
                    <a:pt x="519557" y="0"/>
                    <a:pt x="1160399" y="0"/>
                  </a:cubicBezTo>
                  <a:lnTo>
                    <a:pt x="8910701" y="0"/>
                  </a:lnTo>
                  <a:cubicBezTo>
                    <a:pt x="9551543" y="0"/>
                    <a:pt x="10071100" y="519557"/>
                    <a:pt x="10071100" y="1160399"/>
                  </a:cubicBezTo>
                  <a:lnTo>
                    <a:pt x="10071100" y="5801741"/>
                  </a:lnTo>
                  <a:cubicBezTo>
                    <a:pt x="10071100" y="6442583"/>
                    <a:pt x="9551543" y="6962140"/>
                    <a:pt x="8910701" y="6962140"/>
                  </a:cubicBezTo>
                  <a:lnTo>
                    <a:pt x="1160399" y="6962140"/>
                  </a:lnTo>
                  <a:cubicBezTo>
                    <a:pt x="519557" y="6962140"/>
                    <a:pt x="0" y="6442583"/>
                    <a:pt x="0" y="5801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2743200"/>
            <a:ext cx="82296" cy="5212080"/>
            <a:chOff x="0" y="0"/>
            <a:chExt cx="109728" cy="6949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3312" y="298818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Limitações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3312" y="3610737"/>
            <a:ext cx="6812280" cy="40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OCR depende da qualidade do scan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IA pode interpretar cláusulas incorretamente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SQLite não serve para alta concorrência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42057" y="2738438"/>
            <a:ext cx="7553325" cy="5221605"/>
            <a:chOff x="0" y="0"/>
            <a:chExt cx="10071100" cy="6962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71100" cy="6962140"/>
            </a:xfrm>
            <a:custGeom>
              <a:avLst/>
              <a:gdLst/>
              <a:ahLst/>
              <a:cxnLst/>
              <a:rect r="r" b="b" t="t" l="l"/>
              <a:pathLst>
                <a:path h="6962140" w="10071100">
                  <a:moveTo>
                    <a:pt x="0" y="1160399"/>
                  </a:moveTo>
                  <a:cubicBezTo>
                    <a:pt x="0" y="519557"/>
                    <a:pt x="519557" y="0"/>
                    <a:pt x="1160399" y="0"/>
                  </a:cubicBezTo>
                  <a:lnTo>
                    <a:pt x="8910701" y="0"/>
                  </a:lnTo>
                  <a:cubicBezTo>
                    <a:pt x="9551543" y="0"/>
                    <a:pt x="10071100" y="519557"/>
                    <a:pt x="10071100" y="1160399"/>
                  </a:cubicBezTo>
                  <a:lnTo>
                    <a:pt x="10071100" y="5801741"/>
                  </a:lnTo>
                  <a:cubicBezTo>
                    <a:pt x="10071100" y="6442583"/>
                    <a:pt x="9551543" y="6962140"/>
                    <a:pt x="8910701" y="6962140"/>
                  </a:cubicBezTo>
                  <a:lnTo>
                    <a:pt x="1160399" y="6962140"/>
                  </a:lnTo>
                  <a:cubicBezTo>
                    <a:pt x="519557" y="6962140"/>
                    <a:pt x="0" y="6442583"/>
                    <a:pt x="0" y="5801741"/>
                  </a:cubicBezTo>
                  <a:close/>
                </a:path>
              </a:pathLst>
            </a:custGeom>
            <a:solidFill>
              <a:srgbClr val="111827"/>
            </a:solidFill>
            <a:ln w="9525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846820" y="2743200"/>
            <a:ext cx="82296" cy="5212080"/>
            <a:chOff x="0" y="0"/>
            <a:chExt cx="109728" cy="6949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40012" y="2988183"/>
            <a:ext cx="6812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Evolução Futura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0012" y="3610737"/>
            <a:ext cx="6812280" cy="40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PostgreSQL + armazenamento de objetos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Filas assíncronas para documentos grandes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Embeddings para busca semântica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Trilha de auditoria e confiança por campo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980" y="9792462"/>
            <a:ext cx="16002000" cy="27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InsurMinds — Comparador Inteligente de Apólices D&amp;O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DAHXQc9ZBCU</dc:identifier>
  <dcterms:modified xsi:type="dcterms:W3CDTF">2011-08-01T06:04:30Z</dcterms:modified>
  <cp:revision>1</cp:revision>
  <dc:title>Insurmind_Projeto_Final.pptx</dc:title>
</cp:coreProperties>
</file>